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0" b="1" i="0">
                <a:solidFill>
                  <a:srgbClr val="FFFFFF"/>
                </a:solidFill>
                <a:latin typeface="Cambria"/>
              </a:rPr>
              <a:t>NTEXECG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108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CADCFC"/>
                </a:solidFill>
                <a:latin typeface="Calibri"/>
              </a:rPr>
              <a:t>Gestión de riesgo para trading algorítmico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Validación en cuenta demo y propuesta de inversión · Junio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9436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CADCFC"/>
                </a:solidFill>
                <a:latin typeface="Calibri"/>
              </a:rPr>
              <a:t>Documento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772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El edge existe; el riesgo es el problema.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1264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Las señales (LuxAlgo) son rentables, pero a tamaño fijo y sin protección su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pérdida máxima y drawdown son severos: una sola operación puede borrar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semanas de ganancias.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NTEXECG no cambia la señal: le añade Stop Loss por ATR, dosifica la entrada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y filtra calidad — conservando el edge con una fracción del riesgo.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828800"/>
            <a:ext cx="4206240" cy="3291840"/>
          </a:xfrm>
          <a:prstGeom prst="roundRect">
            <a:avLst/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2148840"/>
            <a:ext cx="4206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6000" b="1" i="0">
                <a:solidFill>
                  <a:srgbClr val="F96167"/>
                </a:solidFill>
                <a:latin typeface="Cambria"/>
              </a:rPr>
              <a:t>−4.5×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3429000"/>
            <a:ext cx="3840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riesgo de cola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Suma de la peor pérdida de las 8 estrategias: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−$22,249  →  −$4,889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Una capa de control entre la señal y el bróker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691639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Pipeline de 5 niveles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Valida sistema, ventana, riesgo, calidad y SL/TP — se detiene en la primera regla que falla.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81635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770632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Stop Loss por ATR obligatorio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Toda entrada lleva stop calculado con volatilidad real. Sin excepciones.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895344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849624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Entrada escalonada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Reparte la posición en niveles: mejor precio promedio y menor pérdida máxima.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974336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928616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Filtros de calidad y régimen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QualityScorer + régimen de mercado bloquean las señales de baja probabilidad.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B7280"/>
                </a:solidFill>
                <a:latin typeface="Calibri"/>
              </a:rPr>
              <a:t>Auditable de extremo a extremo · Hoy operando en cuenta DEMO (sin capital real)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Cuatro mecanismos de protección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83080"/>
            <a:ext cx="5166360" cy="2057400"/>
          </a:xfrm>
          <a:prstGeom prst="roundRect">
            <a:avLst/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2075688"/>
            <a:ext cx="457200" cy="45720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057400"/>
            <a:ext cx="40233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Stop Loss ATR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Pérdida máxima acotada por operación, según la volatilidad de cada instrumento.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166360" cy="2057400"/>
          </a:xfrm>
          <a:prstGeom prst="roundRect">
            <a:avLst/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29400" y="207568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57400"/>
            <a:ext cx="40233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Entrada escalonada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Entra en pullbacks dentro del envelope del stop: mejor promedio, cola menor.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69080"/>
            <a:ext cx="5166360" cy="2057400"/>
          </a:xfrm>
          <a:prstGeom prst="roundRect">
            <a:avLst/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436168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343400"/>
            <a:ext cx="40233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Filtros calidad / régimen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Sólo opera señales con score y contexto de mercado favorables.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069080"/>
            <a:ext cx="5166360" cy="2057400"/>
          </a:xfrm>
          <a:prstGeom prst="roundRect">
            <a:avLst/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9400" y="436168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4343400"/>
            <a:ext cx="40233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Kill-switch + auditoría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Modo dry-run por defecto, backups y reversión en un comando.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Pérdida máxima: hasta 7× menor</a:t>
            </a:r>
          </a:p>
        </p:txBody>
      </p:sp>
      <p:pic>
        <p:nvPicPr>
          <p:cNvPr id="3" name="Picture 2" descr="chart_wo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8778240" cy="399010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784080" y="1554480"/>
            <a:ext cx="1828800" cy="3840480"/>
          </a:xfrm>
          <a:prstGeom prst="roundRect">
            <a:avLst/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1783080"/>
            <a:ext cx="16459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NQ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−$842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F96167"/>
                </a:solidFill>
                <a:latin typeface="Calibri"/>
              </a:rPr>
              <a:t>vs −$6,345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GC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−$549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96167"/>
                </a:solidFill>
                <a:latin typeface="Calibri"/>
              </a:rPr>
              <a:t>vs −$5,878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B7280"/>
                </a:solidFill>
                <a:latin typeface="Calibri"/>
              </a:rPr>
              <a:t>USD por microcontrato · A = NTEXECG · B = LuxAlgo a 2 microcontratos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Calidad: Profit Factor más alto en 5 de 8</a:t>
            </a:r>
          </a:p>
        </p:txBody>
      </p:sp>
      <p:pic>
        <p:nvPicPr>
          <p:cNvPr id="3" name="Picture 2" descr="chart_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17320"/>
            <a:ext cx="9601200" cy="43641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89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6B7280"/>
                </a:solidFill>
                <a:latin typeface="Calibri"/>
              </a:rPr>
              <a:t>NTEXECG sube el PF en ES, NQ, GC, RTY y 6E. El nativo aún domina en YM y 6J; CL en revisión.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Comparativo por estrategia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17320"/>
          <a:ext cx="1142817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737360"/>
                <a:gridCol w="1737360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Estrategia</a:t>
                      </a:r>
                    </a:p>
                  </a:txBody>
                  <a:tcPr marT="25400" marB="25400" marL="50800" marR="508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Ops A (G/P)</a:t>
                      </a:r>
                    </a:p>
                  </a:txBody>
                  <a:tcPr marT="25400" marB="25400" marL="50800" marR="508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Ops B (G/P)</a:t>
                      </a:r>
                    </a:p>
                  </a:txBody>
                  <a:tcPr marT="25400" marB="25400" marL="50800" marR="508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PF A</a:t>
                      </a:r>
                    </a:p>
                  </a:txBody>
                  <a:tcPr marT="25400" marB="25400" marL="50800" marR="508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PF B</a:t>
                      </a:r>
                    </a:p>
                  </a:txBody>
                  <a:tcPr marT="25400" marB="25400" marL="50800" marR="508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Peor $ A</a:t>
                      </a:r>
                    </a:p>
                  </a:txBody>
                  <a:tcPr marT="25400" marB="25400" marL="50800" marR="508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Peor $ B</a:t>
                      </a:r>
                    </a:p>
                  </a:txBody>
                  <a:tcPr marT="25400" marB="25400" marL="50800" marR="508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Neto $ A</a:t>
                      </a:r>
                    </a:p>
                  </a:txBody>
                  <a:tcPr marT="25400" marB="25400" marL="50800" marR="508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Neto $ B</a:t>
                      </a:r>
                    </a:p>
                  </a:txBody>
                  <a:tcPr marT="25400" marB="25400" marL="50800" marR="50800"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GC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21 (12/9)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107 (65/42)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4.91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1.95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-549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-5,878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10,974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27,078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NQ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33 (16/17)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65 (54/11)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2.03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1.44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-842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-6,345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9,206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5,732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ES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37 (18/19)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122 (99/23)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2.39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1.72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-524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-2,032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5,933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6,448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RTY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11 (10/1)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112 (97/14)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11.55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2.15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-290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-1,483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3,054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8,924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YM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16 (10/6)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48 (43/5)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1.57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1.92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-883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-1,835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1,897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4,538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6E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20 (16/4)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99 (84/15)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6.52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1.44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-45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-375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633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732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6J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45 (26/19)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78 (73/4)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3.99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-87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-135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257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766</a:t>
                      </a:r>
                    </a:p>
                  </a:txBody>
                  <a:tcPr marT="25400" marB="25400" marL="50800" marR="50800">
                    <a:solidFill>
                      <a:srgbClr val="F1F4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CL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47 (24/23)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105 (82/23)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1.34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-1,669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-4,166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-468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4,090</a:t>
                      </a:r>
                    </a:p>
                  </a:txBody>
                  <a:tcPr marT="25400" marB="25400" marL="50800" marR="508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T="25400" marB="25400" marL="50800" marR="50800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230 (132/98)</a:t>
                      </a:r>
                    </a:p>
                  </a:txBody>
                  <a:tcPr marT="25400" marB="25400" marL="50800" marR="50800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736 (597/137)</a:t>
                      </a:r>
                    </a:p>
                  </a:txBody>
                  <a:tcPr marT="25400" marB="25400" marL="50800" marR="50800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5400" marB="25400" marL="50800" marR="50800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5400" marB="25400" marL="50800" marR="50800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-4,889</a:t>
                      </a:r>
                    </a:p>
                  </a:txBody>
                  <a:tcPr marT="25400" marB="25400" marL="50800" marR="50800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-22,249</a:t>
                      </a:r>
                    </a:p>
                  </a:txBody>
                  <a:tcPr marT="25400" marB="25400" marL="50800" marR="50800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31,486</a:t>
                      </a:r>
                    </a:p>
                  </a:txBody>
                  <a:tcPr marT="25400" marB="25400" marL="50800" marR="50800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58,308</a:t>
                      </a:r>
                    </a:p>
                  </a:txBody>
                  <a:tcPr marT="25400" marB="25400" marL="50800" marR="50800"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B7280"/>
                </a:solidFill>
                <a:latin typeface="Calibri"/>
              </a:rPr>
              <a:t>Ordenado por Neto $ con NTEXECG · USD/micro · A = NTEXECG · B = LuxAlgo 2 micros · Ops (Ganadoras/Perdedoras)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Dónde NTEXECG agrega valor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5394960" cy="4023360"/>
          </a:xfrm>
          <a:prstGeom prst="roundRect">
            <a:avLst/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7A4B"/>
                </a:solidFill>
                <a:latin typeface="Calibri"/>
              </a:rPr>
              <a:t>Mejora clara (riesgo + PF)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49377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ES — PF 2.39 · peor −$524 (vs −$2,032)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NQ — gana en neto Y riesgo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GC — PF 4.91 · DD −$812 (vs −$7,738)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RTY — PF 11.55 · cola mínima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6E — PF 6.52 · riesgo marginal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394960" cy="4023360"/>
          </a:xfrm>
          <a:prstGeom prst="roundRect">
            <a:avLst/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96596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96167"/>
                </a:solidFill>
                <a:latin typeface="Calibri"/>
              </a:rPr>
              <a:t>Nativo competitivo / revisar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697480"/>
            <a:ext cx="49377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YM — el nativo rinde más (PF 1.92 vs 1.57)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6J — salida nativa domina (PF 3.99)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CL — diseño actual no aporta (PF 0.96):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 i="1">
                <a:solidFill>
                  <a:srgbClr val="6B7280"/>
                </a:solidFill>
                <a:latin typeface="Calibri"/>
              </a:rPr>
              <a:t>     candidata a rediseño o shadow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→ Ajuste previsto antes de capital real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¿Qué tipo de estrategia rinde mejor con NTEXECG?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10927080" cy="868680"/>
          </a:xfrm>
          <a:prstGeom prst="roundRect">
            <a:avLst/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Top 4 por resultado neto: GC · NQ · ES · RTY — comparten Confirmación, trailing de tendencia e índices/oro.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8803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852928"/>
            <a:ext cx="10058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Señal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Confirmación a favor de tendencia. Contrarian sólo con filtro de calidad + trailing (caso GC).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721608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694176"/>
            <a:ext cx="10058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Salida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Smart Trail o Trend Catcher — trailing de tendencia; los dos mejores usan Smart Trail.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56285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535424"/>
            <a:ext cx="10058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Mercado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Índices y oro = sweet spot. Evitar contrarian puro de FX con osciladores extremos.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404104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376672"/>
            <a:ext cx="10058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Timeframe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5m rindió mejor que 15m en este conjunto.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B7280"/>
                </a:solidFill>
                <a:latin typeface="Calibri"/>
              </a:rPr>
              <a:t>Tendencias sobre 8 estrategias (muestra pequeña) — a confirmar con más datos en demo.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Estado: validado y operando en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3520440" cy="2011680"/>
          </a:xfrm>
          <a:prstGeom prst="roundRect">
            <a:avLst/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3520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1E2761"/>
                </a:solidFill>
                <a:latin typeface="Cambri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315468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estrategias en TradersPost (demo)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520440" cy="2011680"/>
          </a:xfrm>
          <a:prstGeom prst="roundRect">
            <a:avLst/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2057400"/>
            <a:ext cx="3520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1E2761"/>
                </a:solidFill>
                <a:latin typeface="Cambria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15468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en paper — sin capital real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1828800"/>
            <a:ext cx="3520440" cy="2011680"/>
          </a:xfrm>
          <a:prstGeom prst="roundRect">
            <a:avLst/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9" y="2057400"/>
            <a:ext cx="3520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1E2761"/>
                </a:solidFill>
                <a:latin typeface="Cambria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39" y="315468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escalonado + filtros activos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Resultados validados contra los backtests originales (Anexos 20 y 22).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Calibración por estrategia (SL, ventana, ATR, escalado) auditable y reversible.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Una semana de operación en demo en curso para confirmar fills reales.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Riesgos y salvaguardas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5394960" cy="4114800"/>
          </a:xfrm>
          <a:prstGeom prst="roundRect">
            <a:avLst/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96167"/>
                </a:solidFill>
                <a:latin typeface="Calibri"/>
              </a:rPr>
              <a:t>Riesgos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49377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Backtest sin comisiones ni slippage.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Muestra ~3 meses; baja frecuencia en YM.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Demo ≠ ejecución real (fills de límites).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Estrategias dependientes del proveedor de señal.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394960" cy="4114800"/>
          </a:xfrm>
          <a:prstGeom prst="roundRect">
            <a:avLst/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96596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7A4B"/>
                </a:solidFill>
                <a:latin typeface="Calibri"/>
              </a:rPr>
              <a:t>Salvaguardas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697480"/>
            <a:ext cx="49377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Dry-run por defecto; envío real sólo con triple gate.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Backups + auditoría de cada cambio.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Reversión total en un comando.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Kill-switch global; todo en paper hasta aprobar.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Propuesta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1E2761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783080"/>
            <a:ext cx="9692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Semana de datos en demo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Confirmar fills reales del escalonado y comportamiento de filtros.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971800"/>
            <a:ext cx="548640" cy="5486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1E2761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926080"/>
            <a:ext cx="9692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Criterios de promoción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≥ 5 sesiones válidas · PF ≥ 1.5 · drawdown dentro de límite por estrategia.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1E2761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4069080"/>
            <a:ext cx="9692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Escalado gradual en real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Iniciar en microcontratos con capital limitado; ampliar por desempeño.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1">
                <a:solidFill>
                  <a:srgbClr val="CADCFC"/>
                </a:solidFill>
                <a:latin typeface="Cambria"/>
              </a:rPr>
              <a:t>Mismo edge, una fracción del riesgo.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